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8" r:id="rId4"/>
    <p:sldId id="269" r:id="rId5"/>
    <p:sldId id="263" r:id="rId6"/>
    <p:sldId id="257" r:id="rId7"/>
    <p:sldId id="265" r:id="rId8"/>
    <p:sldId id="266" r:id="rId9"/>
    <p:sldId id="267" r:id="rId10"/>
    <p:sldId id="259" r:id="rId11"/>
    <p:sldId id="260" r:id="rId12"/>
    <p:sldId id="261" r:id="rId13"/>
    <p:sldId id="262" r:id="rId14"/>
    <p:sldId id="270" r:id="rId15"/>
    <p:sldId id="271" r:id="rId16"/>
    <p:sldId id="272" r:id="rId17"/>
    <p:sldId id="273" r:id="rId18"/>
    <p:sldId id="275" r:id="rId19"/>
    <p:sldId id="274" r:id="rId2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598" autoAdjust="0"/>
  </p:normalViewPr>
  <p:slideViewPr>
    <p:cSldViewPr>
      <p:cViewPr>
        <p:scale>
          <a:sx n="75" d="100"/>
          <a:sy n="75" d="100"/>
        </p:scale>
        <p:origin x="-1666" y="-18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C:\Users\Артем\Desktop\уник\исит\7.3\unnamed.jp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715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Артем\Desktop\уник\исит\7.3\unnamed.jp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0"/>
            <a:ext cx="5715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Артем\Desktop\уник\исит\7.3\unnamed.jp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06888"/>
            <a:ext cx="5715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Артем\Desktop\уник\исит\7.3\unnamed.jp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5706888"/>
            <a:ext cx="5715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1520" y="2753052"/>
            <a:ext cx="844173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 smtClean="0">
                <a:ln>
                  <a:solidFill>
                    <a:schemeClr val="tx1"/>
                  </a:solidFill>
                </a:ln>
                <a:solidFill>
                  <a:schemeClr val="accent3"/>
                </a:solidFill>
                <a:latin typeface="Gill Sans Ultra Bold" pitchFamily="34" charset="0"/>
              </a:rPr>
              <a:t>STUDO-CLICKER</a:t>
            </a:r>
            <a:endParaRPr lang="ru-RU" sz="6600" b="1" dirty="0">
              <a:ln>
                <a:solidFill>
                  <a:schemeClr val="tx1"/>
                </a:solidFill>
              </a:ln>
              <a:solidFill>
                <a:schemeClr val="accent3"/>
              </a:solidFill>
              <a:latin typeface="Impac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00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Артем\Desktop\уник\исит\7.3\жа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9" r="85663"/>
          <a:stretch/>
        </p:blipFill>
        <p:spPr bwMode="auto">
          <a:xfrm>
            <a:off x="0" y="4810124"/>
            <a:ext cx="1552575" cy="204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Артем\Desktop\уник\исит\7.3\жы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6" b="32824"/>
          <a:stretch/>
        </p:blipFill>
        <p:spPr bwMode="auto">
          <a:xfrm>
            <a:off x="6585625" y="-7612"/>
            <a:ext cx="2579995" cy="409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425674" y="-157410"/>
            <a:ext cx="641905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dirty="0" smtClean="0">
                <a:latin typeface="Arial Black" pitchFamily="34" charset="0"/>
              </a:rPr>
              <a:t>Общая </a:t>
            </a:r>
            <a:r>
              <a:rPr lang="ru-RU" sz="3600" dirty="0" smtClean="0">
                <a:latin typeface="Arial Black" pitchFamily="34" charset="0"/>
              </a:rPr>
              <a:t>концепция</a:t>
            </a:r>
            <a:endParaRPr lang="ru-RU" sz="3600" dirty="0">
              <a:latin typeface="Arial Black" pitchFamily="34" charset="0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292714" y="1772816"/>
            <a:ext cx="3807678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dirty="0" smtClean="0">
                <a:latin typeface="Arial Narrow" pitchFamily="34" charset="0"/>
              </a:rPr>
              <a:t>Мобильная игра в жанре «</a:t>
            </a:r>
            <a:r>
              <a:rPr lang="ru-RU" sz="2400" dirty="0" err="1" smtClean="0">
                <a:latin typeface="Arial Narrow" pitchFamily="34" charset="0"/>
              </a:rPr>
              <a:t>кликер</a:t>
            </a:r>
            <a:r>
              <a:rPr lang="ru-RU" sz="2400" dirty="0" smtClean="0">
                <a:latin typeface="Arial Narrow" pitchFamily="34" charset="0"/>
              </a:rPr>
              <a:t>», с возможностью </a:t>
            </a:r>
            <a:r>
              <a:rPr lang="ru-RU" sz="2400" dirty="0" err="1" smtClean="0">
                <a:latin typeface="Arial Narrow" pitchFamily="34" charset="0"/>
              </a:rPr>
              <a:t>кастомизации</a:t>
            </a:r>
            <a:r>
              <a:rPr lang="ru-RU" sz="2400" dirty="0" smtClean="0">
                <a:latin typeface="Arial Narrow" pitchFamily="34" charset="0"/>
              </a:rPr>
              <a:t> персонажа и магазинами улучшений, и коллекционных, либо косметических предметов</a:t>
            </a:r>
            <a:endParaRPr lang="ru-RU" sz="2400" dirty="0">
              <a:latin typeface="Arial Narrow" pitchFamily="34" charset="0"/>
            </a:endParaRPr>
          </a:p>
        </p:txBody>
      </p:sp>
      <p:pic>
        <p:nvPicPr>
          <p:cNvPr id="2" name="Picture 2" descr="C:\Users\Артем\Downloads\Без названия789_2026041415544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214560"/>
            <a:ext cx="2825298" cy="502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696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Артем\Desktop\уник\исит\7.3\жа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9" r="85663"/>
          <a:stretch/>
        </p:blipFill>
        <p:spPr bwMode="auto">
          <a:xfrm>
            <a:off x="0" y="4810124"/>
            <a:ext cx="1552575" cy="204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Артем\Desktop\уник\исит\7.3\жы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6" b="32824"/>
          <a:stretch/>
        </p:blipFill>
        <p:spPr bwMode="auto">
          <a:xfrm>
            <a:off x="6585625" y="-7612"/>
            <a:ext cx="2579995" cy="409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425674" y="-157410"/>
            <a:ext cx="641905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dirty="0" smtClean="0">
                <a:latin typeface="Arial Black" pitchFamily="34" charset="0"/>
              </a:rPr>
              <a:t>Архитектура </a:t>
            </a:r>
            <a:r>
              <a:rPr lang="ru-RU" sz="3600" dirty="0">
                <a:latin typeface="Arial Black" pitchFamily="34" charset="0"/>
              </a:rPr>
              <a:t>проекта и </a:t>
            </a:r>
            <a:r>
              <a:rPr lang="ru-RU" sz="3600" dirty="0" err="1">
                <a:latin typeface="Arial Black" pitchFamily="34" charset="0"/>
              </a:rPr>
              <a:t>репозиторий</a:t>
            </a:r>
            <a:endParaRPr lang="ru-RU" sz="3600" dirty="0">
              <a:latin typeface="Arial Black" pitchFamily="34" charset="0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043608" y="2780928"/>
            <a:ext cx="6552728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 pitchFamily="34" charset="0"/>
              <a:buChar char="•"/>
            </a:pPr>
            <a:r>
              <a:rPr lang="ru-RU" sz="2400" dirty="0" smtClean="0">
                <a:latin typeface="Arial Narrow" pitchFamily="34" charset="0"/>
              </a:rPr>
              <a:t>Проект </a:t>
            </a:r>
            <a:r>
              <a:rPr lang="ru-RU" sz="2400" dirty="0">
                <a:latin typeface="Arial Narrow" pitchFamily="34" charset="0"/>
              </a:rPr>
              <a:t>организуется в публичном </a:t>
            </a:r>
            <a:r>
              <a:rPr lang="ru-RU" sz="2400" dirty="0" err="1">
                <a:latin typeface="Arial Narrow" pitchFamily="34" charset="0"/>
              </a:rPr>
              <a:t>репозитории</a:t>
            </a:r>
            <a:r>
              <a:rPr lang="ru-RU" sz="2400" dirty="0">
                <a:latin typeface="Arial Narrow" pitchFamily="34" charset="0"/>
              </a:rPr>
              <a:t> с четким разделением ответственности (</a:t>
            </a:r>
            <a:r>
              <a:rPr lang="ru-RU" sz="2400" dirty="0" err="1">
                <a:latin typeface="Arial Narrow" pitchFamily="34" charset="0"/>
              </a:rPr>
              <a:t>Separation</a:t>
            </a:r>
            <a:r>
              <a:rPr lang="ru-RU" sz="2400" dirty="0">
                <a:latin typeface="Arial Narrow" pitchFamily="34" charset="0"/>
              </a:rPr>
              <a:t> </a:t>
            </a:r>
            <a:r>
              <a:rPr lang="ru-RU" sz="2400" dirty="0" err="1">
                <a:latin typeface="Arial Narrow" pitchFamily="34" charset="0"/>
              </a:rPr>
              <a:t>of</a:t>
            </a:r>
            <a:r>
              <a:rPr lang="ru-RU" sz="2400" dirty="0">
                <a:latin typeface="Arial Narrow" pitchFamily="34" charset="0"/>
              </a:rPr>
              <a:t> </a:t>
            </a:r>
            <a:r>
              <a:rPr lang="ru-RU" sz="2400" dirty="0" err="1">
                <a:latin typeface="Arial Narrow" pitchFamily="34" charset="0"/>
              </a:rPr>
              <a:t>Concerns</a:t>
            </a:r>
            <a:r>
              <a:rPr lang="ru-RU" sz="2400" dirty="0">
                <a:latin typeface="Arial Narrow" pitchFamily="34" charset="0"/>
              </a:rPr>
              <a:t>). Основная структура</a:t>
            </a:r>
            <a:r>
              <a:rPr lang="ru-RU" sz="2400" dirty="0" smtClean="0">
                <a:latin typeface="Arial Narrow" pitchFamily="34" charset="0"/>
              </a:rPr>
              <a:t>: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ru-RU" sz="2400" dirty="0" err="1">
                <a:latin typeface="Arial Narrow" pitchFamily="34" charset="0"/>
              </a:rPr>
              <a:t>Logic</a:t>
            </a:r>
            <a:r>
              <a:rPr lang="ru-RU" sz="2400" dirty="0">
                <a:latin typeface="Arial Narrow" pitchFamily="34" charset="0"/>
              </a:rPr>
              <a:t> (</a:t>
            </a:r>
            <a:r>
              <a:rPr lang="ru-RU" sz="2400" dirty="0" err="1">
                <a:latin typeface="Arial Narrow" pitchFamily="34" charset="0"/>
              </a:rPr>
              <a:t>Core</a:t>
            </a:r>
            <a:r>
              <a:rPr lang="ru-RU" sz="2400" dirty="0">
                <a:latin typeface="Arial Narrow" pitchFamily="34" charset="0"/>
              </a:rPr>
              <a:t>): Классы, отвечающие за расчеты</a:t>
            </a:r>
            <a:r>
              <a:rPr lang="ru-RU" sz="2400" dirty="0" smtClean="0">
                <a:latin typeface="Arial Narrow" pitchFamily="34" charset="0"/>
              </a:rPr>
              <a:t>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ru-RU" sz="2400" dirty="0" err="1">
                <a:latin typeface="Arial Narrow" pitchFamily="34" charset="0"/>
              </a:rPr>
              <a:t>CurrencyManager</a:t>
            </a:r>
            <a:r>
              <a:rPr lang="ru-RU" sz="2400" dirty="0">
                <a:latin typeface="Arial Narrow" pitchFamily="34" charset="0"/>
              </a:rPr>
              <a:t> — контроль баланса</a:t>
            </a:r>
            <a:r>
              <a:rPr lang="ru-RU" sz="2400" dirty="0" smtClean="0">
                <a:latin typeface="Arial Narrow" pitchFamily="34" charset="0"/>
              </a:rPr>
              <a:t>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ru-RU" sz="2400" dirty="0" err="1">
                <a:latin typeface="Arial Narrow" pitchFamily="34" charset="0"/>
              </a:rPr>
              <a:t>UpgradeSystem</a:t>
            </a:r>
            <a:r>
              <a:rPr lang="ru-RU" sz="2400" dirty="0">
                <a:latin typeface="Arial Narrow" pitchFamily="34" charset="0"/>
              </a:rPr>
              <a:t> — расчет стоимости и эффективности улучшений</a:t>
            </a:r>
            <a:r>
              <a:rPr lang="ru-RU" sz="2400" dirty="0" smtClean="0">
                <a:latin typeface="Arial Narrow" pitchFamily="34" charset="0"/>
              </a:rPr>
              <a:t>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ru-RU" sz="2400" dirty="0" err="1">
                <a:latin typeface="Arial Narrow" pitchFamily="34" charset="0"/>
              </a:rPr>
              <a:t>Data</a:t>
            </a:r>
            <a:r>
              <a:rPr lang="ru-RU" sz="2400" dirty="0">
                <a:latin typeface="Arial Narrow" pitchFamily="34" charset="0"/>
              </a:rPr>
              <a:t> </a:t>
            </a:r>
            <a:r>
              <a:rPr lang="ru-RU" sz="2400" dirty="0" err="1">
                <a:latin typeface="Arial Narrow" pitchFamily="34" charset="0"/>
              </a:rPr>
              <a:t>Layer</a:t>
            </a:r>
            <a:r>
              <a:rPr lang="ru-RU" sz="2400" dirty="0">
                <a:latin typeface="Arial Narrow" pitchFamily="34" charset="0"/>
              </a:rPr>
              <a:t>: Модуль для работы с данными</a:t>
            </a:r>
            <a:r>
              <a:rPr lang="ru-RU" sz="2400" dirty="0" smtClean="0">
                <a:latin typeface="Arial Narrow" pitchFamily="34" charset="0"/>
              </a:rPr>
              <a:t>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ru-RU" sz="2400" dirty="0" err="1">
                <a:latin typeface="Arial Narrow" pitchFamily="34" charset="0"/>
              </a:rPr>
              <a:t>SaveSystem</a:t>
            </a:r>
            <a:r>
              <a:rPr lang="ru-RU" sz="2400" dirty="0">
                <a:latin typeface="Arial Narrow" pitchFamily="34" charset="0"/>
              </a:rPr>
              <a:t> — запись/чтение прогресса (например, через JSON или </a:t>
            </a:r>
            <a:r>
              <a:rPr lang="ru-RU" sz="2400" dirty="0" err="1">
                <a:latin typeface="Arial Narrow" pitchFamily="34" charset="0"/>
              </a:rPr>
              <a:t>PlayerPrefs</a:t>
            </a:r>
            <a:r>
              <a:rPr lang="ru-RU" sz="2400" dirty="0" smtClean="0">
                <a:latin typeface="Arial Narrow" pitchFamily="34" charset="0"/>
              </a:rPr>
              <a:t>).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ru-RU" sz="2400" dirty="0" err="1">
                <a:latin typeface="Arial Narrow" pitchFamily="34" charset="0"/>
              </a:rPr>
              <a:t>GameData</a:t>
            </a:r>
            <a:r>
              <a:rPr lang="ru-RU" sz="2400" dirty="0">
                <a:latin typeface="Arial Narrow" pitchFamily="34" charset="0"/>
              </a:rPr>
              <a:t> — модель данных игрока</a:t>
            </a:r>
            <a:r>
              <a:rPr lang="ru-RU" sz="2400" dirty="0" smtClean="0">
                <a:latin typeface="Arial Narrow" pitchFamily="34" charset="0"/>
              </a:rPr>
              <a:t>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ru-RU" sz="2400" dirty="0">
                <a:latin typeface="Arial Narrow" pitchFamily="34" charset="0"/>
              </a:rPr>
              <a:t>UI/</a:t>
            </a:r>
            <a:r>
              <a:rPr lang="ru-RU" sz="2400" dirty="0" err="1">
                <a:latin typeface="Arial Narrow" pitchFamily="34" charset="0"/>
              </a:rPr>
              <a:t>View</a:t>
            </a:r>
            <a:r>
              <a:rPr lang="ru-RU" sz="2400" dirty="0">
                <a:latin typeface="Arial Narrow" pitchFamily="34" charset="0"/>
              </a:rPr>
              <a:t>: Визуальное </a:t>
            </a:r>
            <a:r>
              <a:rPr lang="ru-RU" sz="2400" dirty="0" smtClean="0">
                <a:latin typeface="Arial Narrow" pitchFamily="34" charset="0"/>
              </a:rPr>
              <a:t>представление.</a:t>
            </a:r>
          </a:p>
        </p:txBody>
      </p:sp>
    </p:spTree>
    <p:extLst>
      <p:ext uri="{BB962C8B-B14F-4D97-AF65-F5344CB8AC3E}">
        <p14:creationId xmlns:p14="http://schemas.microsoft.com/office/powerpoint/2010/main" val="327696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Артем\Desktop\уник\исит\7.3\жа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9" r="85663"/>
          <a:stretch/>
        </p:blipFill>
        <p:spPr bwMode="auto">
          <a:xfrm>
            <a:off x="0" y="4810124"/>
            <a:ext cx="1552575" cy="204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Артем\Desktop\уник\исит\7.3\жы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6" b="32824"/>
          <a:stretch/>
        </p:blipFill>
        <p:spPr bwMode="auto">
          <a:xfrm>
            <a:off x="6585625" y="-7612"/>
            <a:ext cx="2579995" cy="409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425674" y="-157410"/>
            <a:ext cx="641905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dirty="0" smtClean="0">
                <a:latin typeface="Arial Black" pitchFamily="34" charset="0"/>
              </a:rPr>
              <a:t>Архитектура </a:t>
            </a:r>
            <a:r>
              <a:rPr lang="ru-RU" sz="3600" dirty="0">
                <a:latin typeface="Arial Black" pitchFamily="34" charset="0"/>
              </a:rPr>
              <a:t>проекта и </a:t>
            </a:r>
            <a:r>
              <a:rPr lang="ru-RU" sz="3600" dirty="0" err="1">
                <a:latin typeface="Arial Black" pitchFamily="34" charset="0"/>
              </a:rPr>
              <a:t>репозиторий</a:t>
            </a:r>
            <a:endParaRPr lang="ru-RU" sz="3600" dirty="0">
              <a:latin typeface="Arial Black" pitchFamily="34" charset="0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043608" y="1628800"/>
            <a:ext cx="6552728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Arial" pitchFamily="34" charset="0"/>
              <a:buChar char="•"/>
            </a:pPr>
            <a:r>
              <a:rPr lang="ru-RU" sz="2400" dirty="0">
                <a:latin typeface="Arial Narrow" pitchFamily="34" charset="0"/>
              </a:rPr>
              <a:t>Скрипты </a:t>
            </a:r>
            <a:r>
              <a:rPr lang="ru-RU" sz="2400" dirty="0" err="1">
                <a:latin typeface="Arial Narrow" pitchFamily="34" charset="0"/>
              </a:rPr>
              <a:t>отрисовки</a:t>
            </a:r>
            <a:r>
              <a:rPr lang="ru-RU" sz="2400" dirty="0">
                <a:latin typeface="Arial Narrow" pitchFamily="34" charset="0"/>
              </a:rPr>
              <a:t> баланса и обновления состояний кнопок магазина.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ru-RU" sz="2400" dirty="0" err="1">
                <a:latin typeface="Arial Narrow" pitchFamily="34" charset="0"/>
              </a:rPr>
              <a:t>Entities</a:t>
            </a:r>
            <a:r>
              <a:rPr lang="ru-RU" sz="2400" dirty="0">
                <a:latin typeface="Arial Narrow" pitchFamily="34" charset="0"/>
              </a:rPr>
              <a:t>: Объектно-ориентированная иерархия.</a:t>
            </a:r>
          </a:p>
          <a:p>
            <a:pPr marL="285750" indent="-285750" algn="l">
              <a:buFont typeface="Arial" pitchFamily="34" charset="0"/>
              <a:buChar char="•"/>
            </a:pPr>
            <a:r>
              <a:rPr lang="ru-RU" sz="2400" dirty="0">
                <a:latin typeface="Arial Narrow" pitchFamily="34" charset="0"/>
              </a:rPr>
              <a:t>Абстрактный класс </a:t>
            </a:r>
            <a:r>
              <a:rPr lang="ru-RU" sz="2400" dirty="0" err="1">
                <a:latin typeface="Arial Narrow" pitchFamily="34" charset="0"/>
              </a:rPr>
              <a:t>StoreItem</a:t>
            </a:r>
            <a:r>
              <a:rPr lang="ru-RU" sz="2400" dirty="0">
                <a:latin typeface="Arial Narrow" pitchFamily="34" charset="0"/>
              </a:rPr>
              <a:t> и его наследники (улучшения, предметы декора).</a:t>
            </a:r>
            <a:endParaRPr lang="ru-RU" sz="24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031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уник\проф. деятельность\2 семестр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556792"/>
            <a:ext cx="3672408" cy="4274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Артем\Desktop\уник\исит\7.3\жа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9" r="85663"/>
          <a:stretch/>
        </p:blipFill>
        <p:spPr bwMode="auto">
          <a:xfrm>
            <a:off x="0" y="4810124"/>
            <a:ext cx="1552575" cy="204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Артем\Desktop\уник\исит\7.3\жы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6" b="32824"/>
          <a:stretch/>
        </p:blipFill>
        <p:spPr bwMode="auto">
          <a:xfrm>
            <a:off x="6585625" y="-7612"/>
            <a:ext cx="2579995" cy="409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-180528" y="260648"/>
            <a:ext cx="8229600" cy="1143000"/>
          </a:xfrm>
        </p:spPr>
        <p:txBody>
          <a:bodyPr/>
          <a:lstStyle/>
          <a:p>
            <a:r>
              <a:rPr lang="ru-RU" dirty="0" smtClean="0">
                <a:latin typeface="Arial Black" pitchFamily="34" charset="0"/>
              </a:rPr>
              <a:t>Схема интерфейса</a:t>
            </a:r>
            <a:endParaRPr lang="ru-RU" dirty="0">
              <a:latin typeface="Arial Black" pitchFamily="34" charset="0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425674" y="-157410"/>
            <a:ext cx="641905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3600" dirty="0">
              <a:latin typeface="Arial Black" pitchFamily="34" charset="0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971600" y="4379094"/>
            <a:ext cx="7776864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400" dirty="0">
              <a:latin typeface="Arial Black" pitchFamily="34" charset="0"/>
            </a:endParaRPr>
          </a:p>
        </p:txBody>
      </p:sp>
      <p:pic>
        <p:nvPicPr>
          <p:cNvPr id="1027" name="Picture 3" descr="D:\уник\проф. деятельность\2 семестр\Untitled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853" b="90634"/>
          <a:stretch/>
        </p:blipFill>
        <p:spPr bwMode="auto">
          <a:xfrm>
            <a:off x="5148064" y="1484784"/>
            <a:ext cx="890142" cy="431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799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5272" y="1124744"/>
            <a:ext cx="6419056" cy="2002234"/>
          </a:xfrm>
        </p:spPr>
        <p:txBody>
          <a:bodyPr>
            <a:noAutofit/>
          </a:bodyPr>
          <a:lstStyle/>
          <a:p>
            <a:pPr algn="l"/>
            <a:r>
              <a:rPr lang="ru-RU" sz="3600" dirty="0" smtClean="0">
                <a:latin typeface="Arial Black" pitchFamily="34" charset="0"/>
              </a:rPr>
              <a:t>Цель проекта: </a:t>
            </a:r>
            <a:r>
              <a:rPr lang="ru-RU" sz="3600" dirty="0" smtClean="0">
                <a:latin typeface="Arial Black" pitchFamily="34" charset="0"/>
              </a:rPr>
              <a:t/>
            </a:r>
            <a:br>
              <a:rPr lang="ru-RU" sz="3600" dirty="0" smtClean="0">
                <a:latin typeface="Arial Black" pitchFamily="34" charset="0"/>
              </a:rPr>
            </a:br>
            <a:r>
              <a:rPr lang="ru-RU" sz="2800" dirty="0" smtClean="0">
                <a:latin typeface="Arial Narrow" pitchFamily="34" charset="0"/>
              </a:rPr>
              <a:t>Разработать </a:t>
            </a:r>
            <a:r>
              <a:rPr lang="ru-RU" sz="2800" dirty="0">
                <a:latin typeface="Arial Narrow" pitchFamily="34" charset="0"/>
              </a:rPr>
              <a:t>игровое мобильное приложение в жанре «</a:t>
            </a:r>
            <a:r>
              <a:rPr lang="ru-RU" sz="2800" dirty="0" err="1">
                <a:latin typeface="Arial Narrow" pitchFamily="34" charset="0"/>
              </a:rPr>
              <a:t>кликер</a:t>
            </a:r>
            <a:r>
              <a:rPr lang="ru-RU" sz="2800" dirty="0">
                <a:latin typeface="Arial Narrow" pitchFamily="34" charset="0"/>
              </a:rPr>
              <a:t>», </a:t>
            </a:r>
            <a:r>
              <a:rPr lang="ru-RU" sz="2800" dirty="0" smtClean="0">
                <a:latin typeface="Arial Narrow" pitchFamily="34" charset="0"/>
              </a:rPr>
              <a:t>с игровыми механиками </a:t>
            </a:r>
            <a:r>
              <a:rPr lang="ru-RU" sz="2800" dirty="0">
                <a:latin typeface="Arial Narrow" pitchFamily="34" charset="0"/>
              </a:rPr>
              <a:t>прогрессии, </a:t>
            </a:r>
            <a:r>
              <a:rPr lang="ru-RU" sz="2800" dirty="0" err="1">
                <a:latin typeface="Arial Narrow" pitchFamily="34" charset="0"/>
              </a:rPr>
              <a:t>кастомизации</a:t>
            </a:r>
            <a:r>
              <a:rPr lang="ru-RU" sz="2800" dirty="0">
                <a:latin typeface="Arial Narrow" pitchFamily="34" charset="0"/>
              </a:rPr>
              <a:t> и накопления ресурсов.</a:t>
            </a:r>
            <a:r>
              <a:rPr lang="ru-RU" sz="2800" dirty="0">
                <a:latin typeface="Arial Narrow" pitchFamily="34" charset="0"/>
              </a:rPr>
              <a:t/>
            </a:r>
            <a:br>
              <a:rPr lang="ru-RU" sz="2800" dirty="0">
                <a:latin typeface="Arial Narrow" pitchFamily="34" charset="0"/>
              </a:rPr>
            </a:br>
            <a:endParaRPr lang="ru-RU" sz="2800" dirty="0">
              <a:latin typeface="Arial Narrow" pitchFamily="34" charset="0"/>
            </a:endParaRPr>
          </a:p>
        </p:txBody>
      </p:sp>
      <p:pic>
        <p:nvPicPr>
          <p:cNvPr id="2050" name="Picture 2" descr="C:\Users\Артем\Desktop\уник\исит\7.3\жа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9" r="85663"/>
          <a:stretch/>
        </p:blipFill>
        <p:spPr bwMode="auto">
          <a:xfrm>
            <a:off x="0" y="4810124"/>
            <a:ext cx="1552575" cy="204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Артем\Desktop\уник\исит\7.3\жы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6" b="32824"/>
          <a:stretch/>
        </p:blipFill>
        <p:spPr bwMode="auto">
          <a:xfrm>
            <a:off x="6585625" y="-7612"/>
            <a:ext cx="2579995" cy="409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115616" y="3947046"/>
            <a:ext cx="7128792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dirty="0" smtClean="0">
                <a:latin typeface="Arial Black" pitchFamily="34" charset="0"/>
                <a:cs typeface="Arial" pitchFamily="34" charset="0"/>
              </a:rPr>
              <a:t>Миссия продукта: </a:t>
            </a: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уловить и передать уникальную эстетику студентов пост-советского пространства в популярной форме</a:t>
            </a: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(и заработать денег)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42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5272" y="2204864"/>
            <a:ext cx="6347048" cy="2002234"/>
          </a:xfrm>
        </p:spPr>
        <p:txBody>
          <a:bodyPr>
            <a:noAutofit/>
          </a:bodyPr>
          <a:lstStyle/>
          <a:p>
            <a:pPr algn="l"/>
            <a:r>
              <a:rPr lang="ru-RU" sz="2800" dirty="0" smtClean="0">
                <a:latin typeface="Arial Black" pitchFamily="34" charset="0"/>
              </a:rPr>
              <a:t>Задачи </a:t>
            </a:r>
            <a:r>
              <a:rPr lang="ru-RU" sz="2800" dirty="0">
                <a:latin typeface="Arial Black" pitchFamily="34" charset="0"/>
              </a:rPr>
              <a:t>проекта</a:t>
            </a:r>
            <a:r>
              <a:rPr lang="ru-RU" sz="2800" dirty="0">
                <a:latin typeface="Arial Narrow" pitchFamily="34" charset="0"/>
              </a:rPr>
              <a:t/>
            </a:r>
            <a:br>
              <a:rPr lang="ru-RU" sz="2800" dirty="0">
                <a:latin typeface="Arial Narrow" pitchFamily="34" charset="0"/>
              </a:rPr>
            </a:br>
            <a:r>
              <a:rPr lang="ru-RU" sz="2800" dirty="0">
                <a:latin typeface="Arial Narrow" pitchFamily="34" charset="0"/>
              </a:rPr>
              <a:t>Аналитическая: Изучить и систематизировать визуальные и культурные атрибуты выбранного </a:t>
            </a:r>
            <a:r>
              <a:rPr lang="ru-RU" sz="2800" dirty="0" err="1">
                <a:latin typeface="Arial Narrow" pitchFamily="34" charset="0"/>
              </a:rPr>
              <a:t>сеттинга</a:t>
            </a:r>
            <a:r>
              <a:rPr lang="ru-RU" sz="2800" dirty="0">
                <a:latin typeface="Arial Narrow" pitchFamily="34" charset="0"/>
              </a:rPr>
              <a:t> для разработки дизайн-концепции (интерьер общежития, предметы быта, стиль персонажа).</a:t>
            </a:r>
            <a:r>
              <a:rPr lang="ru-RU" sz="2800" dirty="0">
                <a:latin typeface="Arial Narrow" pitchFamily="34" charset="0"/>
              </a:rPr>
              <a:t/>
            </a:r>
            <a:br>
              <a:rPr lang="ru-RU" sz="2800" dirty="0">
                <a:latin typeface="Arial Narrow" pitchFamily="34" charset="0"/>
              </a:rPr>
            </a:br>
            <a:r>
              <a:rPr lang="ru-RU" sz="2800" dirty="0">
                <a:latin typeface="Arial Narrow" pitchFamily="34" charset="0"/>
              </a:rPr>
              <a:t/>
            </a:r>
            <a:br>
              <a:rPr lang="ru-RU" sz="2800" dirty="0">
                <a:latin typeface="Arial Narrow" pitchFamily="34" charset="0"/>
              </a:rPr>
            </a:br>
            <a:r>
              <a:rPr lang="ru-RU" sz="2800" dirty="0">
                <a:latin typeface="Arial Narrow" pitchFamily="34" charset="0"/>
              </a:rPr>
              <a:t>Проектировочная: Спроектировать архитектуру приложения на основе принципов ООП, разделив игровую логику (</a:t>
            </a:r>
            <a:r>
              <a:rPr lang="ru-RU" sz="2800" dirty="0" err="1">
                <a:latin typeface="Arial Narrow" pitchFamily="34" charset="0"/>
              </a:rPr>
              <a:t>Backend</a:t>
            </a:r>
            <a:r>
              <a:rPr lang="ru-RU" sz="2800" dirty="0">
                <a:latin typeface="Arial Narrow" pitchFamily="34" charset="0"/>
              </a:rPr>
              <a:t>), интерфейс (</a:t>
            </a:r>
            <a:r>
              <a:rPr lang="ru-RU" sz="2800" dirty="0" err="1">
                <a:latin typeface="Arial Narrow" pitchFamily="34" charset="0"/>
              </a:rPr>
              <a:t>Frontend</a:t>
            </a:r>
            <a:r>
              <a:rPr lang="ru-RU" sz="2800" dirty="0">
                <a:latin typeface="Arial Narrow" pitchFamily="34" charset="0"/>
              </a:rPr>
              <a:t>) и систему хранения данных.</a:t>
            </a:r>
            <a:r>
              <a:rPr lang="ru-RU" sz="2800" dirty="0">
                <a:latin typeface="Arial Narrow" pitchFamily="34" charset="0"/>
              </a:rPr>
              <a:t/>
            </a:r>
            <a:br>
              <a:rPr lang="ru-RU" sz="2800" dirty="0">
                <a:latin typeface="Arial Narrow" pitchFamily="34" charset="0"/>
              </a:rPr>
            </a:br>
            <a:endParaRPr lang="ru-RU" sz="2800" dirty="0">
              <a:latin typeface="Arial Narrow" pitchFamily="34" charset="0"/>
            </a:endParaRPr>
          </a:p>
        </p:txBody>
      </p:sp>
      <p:pic>
        <p:nvPicPr>
          <p:cNvPr id="2050" name="Picture 2" descr="C:\Users\Артем\Desktop\уник\исит\7.3\жа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9" r="85663"/>
          <a:stretch/>
        </p:blipFill>
        <p:spPr bwMode="auto">
          <a:xfrm>
            <a:off x="0" y="4810124"/>
            <a:ext cx="1552575" cy="204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Артем\Desktop\уник\исит\7.3\жы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6" b="32824"/>
          <a:stretch/>
        </p:blipFill>
        <p:spPr bwMode="auto">
          <a:xfrm>
            <a:off x="6585625" y="-7612"/>
            <a:ext cx="2579995" cy="409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115616" y="3947046"/>
            <a:ext cx="7128792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800" dirty="0">
              <a:latin typeface="Arial Black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992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5272" y="1484784"/>
            <a:ext cx="6347048" cy="2002234"/>
          </a:xfrm>
        </p:spPr>
        <p:txBody>
          <a:bodyPr>
            <a:noAutofit/>
          </a:bodyPr>
          <a:lstStyle/>
          <a:p>
            <a:pPr algn="l"/>
            <a:r>
              <a:rPr lang="ru-RU" sz="2800" dirty="0" smtClean="0">
                <a:latin typeface="Arial Black" pitchFamily="34" charset="0"/>
              </a:rPr>
              <a:t>Задачи проекта</a:t>
            </a:r>
            <a:r>
              <a:rPr lang="ru-RU" sz="2800" dirty="0">
                <a:latin typeface="Arial Narrow" pitchFamily="34" charset="0"/>
              </a:rPr>
              <a:t/>
            </a:r>
            <a:br>
              <a:rPr lang="ru-RU" sz="2800" dirty="0">
                <a:latin typeface="Arial Narrow" pitchFamily="34" charset="0"/>
              </a:rPr>
            </a:br>
            <a:r>
              <a:rPr lang="ru-RU" sz="2800" dirty="0">
                <a:latin typeface="Arial Narrow" pitchFamily="34" charset="0"/>
              </a:rPr>
              <a:t>Технологическая: Реализовать базовый игровой цикл (</a:t>
            </a:r>
            <a:r>
              <a:rPr lang="ru-RU" sz="2800" dirty="0" err="1">
                <a:latin typeface="Arial Narrow" pitchFamily="34" charset="0"/>
              </a:rPr>
              <a:t>Core</a:t>
            </a:r>
            <a:r>
              <a:rPr lang="ru-RU" sz="2800" dirty="0">
                <a:latin typeface="Arial Narrow" pitchFamily="34" charset="0"/>
              </a:rPr>
              <a:t> </a:t>
            </a:r>
            <a:r>
              <a:rPr lang="ru-RU" sz="2800" dirty="0" err="1">
                <a:latin typeface="Arial Narrow" pitchFamily="34" charset="0"/>
              </a:rPr>
              <a:t>Loop</a:t>
            </a:r>
            <a:r>
              <a:rPr lang="ru-RU" sz="2800" dirty="0">
                <a:latin typeface="Arial Narrow" pitchFamily="34" charset="0"/>
              </a:rPr>
              <a:t>), систему улучшений и механизм сохранения прогресса в локальное хранилище.</a:t>
            </a:r>
            <a:br>
              <a:rPr lang="ru-RU" sz="2800" dirty="0">
                <a:latin typeface="Arial Narrow" pitchFamily="34" charset="0"/>
              </a:rPr>
            </a:br>
            <a:r>
              <a:rPr lang="ru-RU" sz="2800" dirty="0">
                <a:latin typeface="Arial Narrow" pitchFamily="34" charset="0"/>
              </a:rPr>
              <a:t/>
            </a:r>
            <a:br>
              <a:rPr lang="ru-RU" sz="2800" dirty="0">
                <a:latin typeface="Arial Narrow" pitchFamily="34" charset="0"/>
              </a:rPr>
            </a:br>
            <a:r>
              <a:rPr lang="ru-RU" sz="2800" dirty="0" err="1">
                <a:latin typeface="Arial Narrow" pitchFamily="34" charset="0"/>
              </a:rPr>
              <a:t>Валидационная</a:t>
            </a:r>
            <a:r>
              <a:rPr lang="ru-RU" sz="2800" dirty="0">
                <a:latin typeface="Arial Narrow" pitchFamily="34" charset="0"/>
              </a:rPr>
              <a:t>: Провести балансировку </a:t>
            </a:r>
            <a:r>
              <a:rPr lang="ru-RU" sz="2800" dirty="0" err="1">
                <a:latin typeface="Arial Narrow" pitchFamily="34" charset="0"/>
              </a:rPr>
              <a:t>внутриигровой</a:t>
            </a:r>
            <a:r>
              <a:rPr lang="ru-RU" sz="2800" dirty="0">
                <a:latin typeface="Arial Narrow" pitchFamily="34" charset="0"/>
              </a:rPr>
              <a:t> экономики и протестировать корректность работы системы модификаторов клика</a:t>
            </a:r>
            <a:r>
              <a:rPr lang="ru-RU" sz="2800" dirty="0" smtClean="0">
                <a:latin typeface="Arial Narrow" pitchFamily="34" charset="0"/>
              </a:rPr>
              <a:t>.</a:t>
            </a:r>
            <a:endParaRPr lang="ru-RU" sz="2800" dirty="0">
              <a:latin typeface="Arial Narrow" pitchFamily="34" charset="0"/>
            </a:endParaRPr>
          </a:p>
        </p:txBody>
      </p:sp>
      <p:pic>
        <p:nvPicPr>
          <p:cNvPr id="2050" name="Picture 2" descr="C:\Users\Артем\Desktop\уник\исит\7.3\жа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9" r="85663"/>
          <a:stretch/>
        </p:blipFill>
        <p:spPr bwMode="auto">
          <a:xfrm>
            <a:off x="0" y="4810124"/>
            <a:ext cx="1552575" cy="204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Артем\Desktop\уник\исит\7.3\жы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6" b="32824"/>
          <a:stretch/>
        </p:blipFill>
        <p:spPr bwMode="auto">
          <a:xfrm>
            <a:off x="6585625" y="-7612"/>
            <a:ext cx="2579995" cy="409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115616" y="3947046"/>
            <a:ext cx="7128792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800" dirty="0">
              <a:latin typeface="Arial Black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843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3264" y="620688"/>
            <a:ext cx="6347048" cy="2002234"/>
          </a:xfrm>
        </p:spPr>
        <p:txBody>
          <a:bodyPr>
            <a:noAutofit/>
          </a:bodyPr>
          <a:lstStyle/>
          <a:p>
            <a:pPr algn="l"/>
            <a:r>
              <a:rPr lang="ru-RU" sz="2800" dirty="0" smtClean="0">
                <a:latin typeface="Arial Narrow" pitchFamily="34" charset="0"/>
              </a:rPr>
              <a:t>В </a:t>
            </a:r>
            <a:r>
              <a:rPr lang="ru-RU" sz="2800" dirty="0">
                <a:latin typeface="Arial Narrow" pitchFamily="34" charset="0"/>
              </a:rPr>
              <a:t>рамках MVP фокусируемся на техническую стабильность и чистоту архитектуры</a:t>
            </a:r>
            <a:r>
              <a:rPr lang="ru-RU" sz="2800" dirty="0" smtClean="0">
                <a:latin typeface="Arial Narrow" pitchFamily="34" charset="0"/>
              </a:rPr>
              <a:t>:</a:t>
            </a:r>
            <a:br>
              <a:rPr lang="ru-RU" sz="2800" dirty="0" smtClean="0">
                <a:latin typeface="Arial Narrow" pitchFamily="34" charset="0"/>
              </a:rPr>
            </a:br>
            <a:endParaRPr lang="ru-RU" sz="2800" dirty="0">
              <a:latin typeface="Arial Narrow" pitchFamily="34" charset="0"/>
            </a:endParaRPr>
          </a:p>
        </p:txBody>
      </p:sp>
      <p:pic>
        <p:nvPicPr>
          <p:cNvPr id="2050" name="Picture 2" descr="C:\Users\Артем\Desktop\уник\исит\7.3\жа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9" r="85663"/>
          <a:stretch/>
        </p:blipFill>
        <p:spPr bwMode="auto">
          <a:xfrm>
            <a:off x="0" y="4810124"/>
            <a:ext cx="1552575" cy="204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Артем\Desktop\уник\исит\7.3\жы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6" b="32824"/>
          <a:stretch/>
        </p:blipFill>
        <p:spPr bwMode="auto">
          <a:xfrm>
            <a:off x="6585625" y="-7612"/>
            <a:ext cx="2579995" cy="409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115616" y="3947046"/>
            <a:ext cx="7128792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800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1033264" y="-27384"/>
            <a:ext cx="6347048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800" dirty="0" smtClean="0">
                <a:latin typeface="Arial Black" pitchFamily="34" charset="0"/>
              </a:rPr>
              <a:t>MVP</a:t>
            </a:r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ru-RU" sz="2800" dirty="0" smtClean="0"/>
              <a:t/>
            </a:r>
            <a:br>
              <a:rPr lang="ru-RU" sz="2800" dirty="0" smtClean="0"/>
            </a:br>
            <a:endParaRPr lang="ru-RU" sz="2800" dirty="0">
              <a:latin typeface="Arial Narrow" pitchFamily="34" charset="0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115616" y="3573016"/>
            <a:ext cx="6687998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</a:rPr>
              <a:t>Функционал: Система генерации валюты при нажатии, базовый магазин с одним типом апгрейдов (увеличение силы клика) и автоматическое сохранение состояния игры.</a:t>
            </a:r>
            <a:endParaRPr lang="ru-RU" sz="2800" dirty="0">
              <a:latin typeface="Arial Narrow" pitchFamily="34" charset="0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>
                <a:latin typeface="Arial Narrow" pitchFamily="34" charset="0"/>
              </a:rPr>
              <a:t>Исключения: </a:t>
            </a:r>
            <a:r>
              <a:rPr lang="ru-RU" sz="2800" dirty="0" err="1">
                <a:latin typeface="Arial Narrow" pitchFamily="34" charset="0"/>
              </a:rPr>
              <a:t>Кастомизация</a:t>
            </a:r>
            <a:r>
              <a:rPr lang="ru-RU" sz="2800" dirty="0">
                <a:latin typeface="Arial Narrow" pitchFamily="34" charset="0"/>
              </a:rPr>
              <a:t> персонажа, мини-игры и случайные события вынесены из MVP в стадию расширенной разработки (</a:t>
            </a:r>
            <a:r>
              <a:rPr lang="ru-RU" sz="2800" dirty="0" err="1">
                <a:latin typeface="Arial Narrow" pitchFamily="34" charset="0"/>
              </a:rPr>
              <a:t>Should</a:t>
            </a:r>
            <a:r>
              <a:rPr lang="ru-RU" sz="2800" dirty="0">
                <a:latin typeface="Arial Narrow" pitchFamily="34" charset="0"/>
              </a:rPr>
              <a:t> </a:t>
            </a:r>
            <a:r>
              <a:rPr lang="ru-RU" sz="2800" dirty="0" err="1">
                <a:latin typeface="Arial Narrow" pitchFamily="34" charset="0"/>
              </a:rPr>
              <a:t>Have</a:t>
            </a:r>
            <a:r>
              <a:rPr lang="ru-RU" sz="2800" dirty="0">
                <a:latin typeface="Arial Narrow" pitchFamily="34" charset="0"/>
              </a:rPr>
              <a:t>/</a:t>
            </a:r>
            <a:r>
              <a:rPr lang="ru-RU" sz="2800" dirty="0" err="1">
                <a:latin typeface="Arial Narrow" pitchFamily="34" charset="0"/>
              </a:rPr>
              <a:t>Could</a:t>
            </a:r>
            <a:r>
              <a:rPr lang="ru-RU" sz="2800" dirty="0">
                <a:latin typeface="Arial Narrow" pitchFamily="34" charset="0"/>
              </a:rPr>
              <a:t> </a:t>
            </a:r>
            <a:r>
              <a:rPr lang="ru-RU" sz="2800" dirty="0" err="1">
                <a:latin typeface="Arial Narrow" pitchFamily="34" charset="0"/>
              </a:rPr>
              <a:t>Have</a:t>
            </a:r>
            <a:r>
              <a:rPr lang="ru-RU" sz="2800" dirty="0">
                <a:latin typeface="Arial Narrow" pitchFamily="34" charset="0"/>
              </a:rPr>
              <a:t>), чтобы обеспечить надежность архитектурного ядра.</a:t>
            </a:r>
          </a:p>
          <a:p>
            <a:pPr marL="457200" indent="-457200" algn="l">
              <a:buFont typeface="Arial" pitchFamily="34" charset="0"/>
              <a:buChar char="•"/>
            </a:pPr>
            <a:endParaRPr lang="ru-RU" sz="28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840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15416"/>
            <a:ext cx="6419056" cy="2002234"/>
          </a:xfrm>
        </p:spPr>
        <p:txBody>
          <a:bodyPr>
            <a:noAutofit/>
          </a:bodyPr>
          <a:lstStyle/>
          <a:p>
            <a:pPr algn="l"/>
            <a:r>
              <a:rPr lang="ru-RU" sz="3600" dirty="0" smtClean="0">
                <a:latin typeface="Arial Black" pitchFamily="34" charset="0"/>
              </a:rPr>
              <a:t>Роли:</a:t>
            </a:r>
            <a:endParaRPr lang="ru-RU" sz="3600" dirty="0">
              <a:latin typeface="Arial Black" pitchFamily="34" charset="0"/>
            </a:endParaRPr>
          </a:p>
        </p:txBody>
      </p:sp>
      <p:pic>
        <p:nvPicPr>
          <p:cNvPr id="2050" name="Picture 2" descr="C:\Users\Артем\Desktop\уник\исит\7.3\жа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9" r="85663"/>
          <a:stretch/>
        </p:blipFill>
        <p:spPr bwMode="auto">
          <a:xfrm>
            <a:off x="0" y="4810124"/>
            <a:ext cx="1552575" cy="204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Артем\Desktop\уник\исит\7.3\жы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6" b="32824"/>
          <a:stretch/>
        </p:blipFill>
        <p:spPr bwMode="auto">
          <a:xfrm>
            <a:off x="6585625" y="-7612"/>
            <a:ext cx="2579995" cy="409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395536" y="1570782"/>
            <a:ext cx="7128792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AutoNum type="arabicParenR"/>
            </a:pPr>
            <a:r>
              <a:rPr lang="ru-RU" sz="2800" dirty="0" err="1" smtClean="0">
                <a:latin typeface="Arial Black" pitchFamily="34" charset="0"/>
                <a:cs typeface="Arial" pitchFamily="34" charset="0"/>
              </a:rPr>
              <a:t>Бэкэнд</a:t>
            </a:r>
            <a:r>
              <a:rPr lang="ru-RU" sz="2800" dirty="0" smtClean="0">
                <a:latin typeface="Arial Black" pitchFamily="34" charset="0"/>
                <a:cs typeface="Arial" pitchFamily="34" charset="0"/>
              </a:rPr>
              <a:t>-разработка – Елисей</a:t>
            </a:r>
          </a:p>
          <a:p>
            <a:pPr marL="514350" indent="-514350" algn="l">
              <a:buAutoNum type="arabicParenR"/>
            </a:pPr>
            <a:r>
              <a:rPr lang="ru-RU" sz="2800" dirty="0" err="1" smtClean="0">
                <a:latin typeface="Arial Black" pitchFamily="34" charset="0"/>
                <a:cs typeface="Arial" pitchFamily="34" charset="0"/>
              </a:rPr>
              <a:t>Фронтэнд</a:t>
            </a:r>
            <a:r>
              <a:rPr lang="ru-RU" sz="2800" dirty="0" smtClean="0">
                <a:latin typeface="Arial Black" pitchFamily="34" charset="0"/>
                <a:cs typeface="Arial" pitchFamily="34" charset="0"/>
              </a:rPr>
              <a:t>-разработка, анимации – Артемий</a:t>
            </a:r>
          </a:p>
          <a:p>
            <a:pPr marL="514350" indent="-514350" algn="l">
              <a:buAutoNum type="arabicParenR"/>
            </a:pPr>
            <a:r>
              <a:rPr lang="ru-RU" sz="2800" dirty="0" smtClean="0">
                <a:latin typeface="Arial Black" pitchFamily="34" charset="0"/>
                <a:cs typeface="Arial" pitchFamily="34" charset="0"/>
              </a:rPr>
              <a:t>Дизайн - </a:t>
            </a:r>
            <a:r>
              <a:rPr lang="ru-RU" sz="2800" dirty="0" err="1" smtClean="0">
                <a:latin typeface="Arial Black" pitchFamily="34" charset="0"/>
                <a:cs typeface="Arial" pitchFamily="34" charset="0"/>
              </a:rPr>
              <a:t>Санжирма</a:t>
            </a:r>
            <a:endParaRPr lang="ru-RU" sz="2800" dirty="0">
              <a:latin typeface="Arial Black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726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-459432"/>
            <a:ext cx="6419056" cy="2002234"/>
          </a:xfrm>
        </p:spPr>
        <p:txBody>
          <a:bodyPr>
            <a:noAutofit/>
          </a:bodyPr>
          <a:lstStyle/>
          <a:p>
            <a:pPr algn="l"/>
            <a:r>
              <a:rPr lang="ru-RU" sz="3600" dirty="0" smtClean="0">
                <a:latin typeface="Arial Black" pitchFamily="34" charset="0"/>
              </a:rPr>
              <a:t>Формулирование задач по «</a:t>
            </a:r>
            <a:r>
              <a:rPr lang="en-US" sz="3600" dirty="0" err="1" smtClean="0">
                <a:latin typeface="Arial Black" pitchFamily="34" charset="0"/>
              </a:rPr>
              <a:t>MoSCoW</a:t>
            </a:r>
            <a:r>
              <a:rPr lang="ru-RU" sz="3600" dirty="0" smtClean="0">
                <a:latin typeface="Arial Black" pitchFamily="34" charset="0"/>
              </a:rPr>
              <a:t>»</a:t>
            </a:r>
            <a:endParaRPr lang="ru-RU" sz="3600" dirty="0">
              <a:latin typeface="Arial Black" pitchFamily="34" charset="0"/>
            </a:endParaRPr>
          </a:p>
        </p:txBody>
      </p:sp>
      <p:pic>
        <p:nvPicPr>
          <p:cNvPr id="2050" name="Picture 2" descr="C:\Users\Артем\Desktop\уник\исит\7.3\жа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9" r="85663"/>
          <a:stretch/>
        </p:blipFill>
        <p:spPr bwMode="auto">
          <a:xfrm>
            <a:off x="0" y="4810124"/>
            <a:ext cx="1552575" cy="204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Артем\Desktop\уник\исит\7.3\жы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6" b="32824"/>
          <a:stretch/>
        </p:blipFill>
        <p:spPr bwMode="auto">
          <a:xfrm>
            <a:off x="6585625" y="-7612"/>
            <a:ext cx="2579995" cy="409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475656" y="2780928"/>
            <a:ext cx="7776864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latin typeface="Arial Narrow" pitchFamily="34" charset="0"/>
                <a:cs typeface="Arial" pitchFamily="34" charset="0"/>
              </a:rPr>
              <a:t>M</a:t>
            </a:r>
            <a:r>
              <a:rPr lang="en-US" sz="3200" dirty="0" smtClean="0">
                <a:latin typeface="Arial Narrow" pitchFamily="34" charset="0"/>
                <a:cs typeface="Arial" pitchFamily="34" charset="0"/>
              </a:rPr>
              <a:t>ust Have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Механика «</a:t>
            </a:r>
            <a:r>
              <a:rPr lang="ru-RU" sz="2800" dirty="0" err="1" smtClean="0">
                <a:latin typeface="Arial Narrow" pitchFamily="34" charset="0"/>
                <a:cs typeface="Arial" pitchFamily="34" charset="0"/>
              </a:rPr>
              <a:t>кликанья</a:t>
            </a: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»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err="1" smtClean="0">
                <a:latin typeface="Arial Narrow" pitchFamily="34" charset="0"/>
                <a:cs typeface="Arial" pitchFamily="34" charset="0"/>
              </a:rPr>
              <a:t>Внутриигровой</a:t>
            </a: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 магазин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Сохранение результатов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err="1" smtClean="0">
                <a:latin typeface="Arial Narrow" pitchFamily="34" charset="0"/>
                <a:cs typeface="Arial" pitchFamily="34" charset="0"/>
              </a:rPr>
              <a:t>Кастомизация</a:t>
            </a: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 персонажа</a:t>
            </a:r>
          </a:p>
          <a:p>
            <a:pPr algn="l"/>
            <a:r>
              <a:rPr lang="en-US" sz="3200" dirty="0" smtClean="0">
                <a:latin typeface="Arial Narrow" pitchFamily="34" charset="0"/>
                <a:cs typeface="Arial" pitchFamily="34" charset="0"/>
              </a:rPr>
              <a:t>Should Have</a:t>
            </a:r>
            <a:endParaRPr lang="en-US" sz="3200" dirty="0">
              <a:latin typeface="Arial Narrow" pitchFamily="34" charset="0"/>
              <a:cs typeface="Arial" pitchFamily="34" charset="0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Интерактивные визуальные эффекты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Шкала прогресса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Разнообразие предметов и улучшений во </a:t>
            </a:r>
            <a:r>
              <a:rPr lang="ru-RU" sz="2800" dirty="0" err="1" smtClean="0">
                <a:latin typeface="Arial Narrow" pitchFamily="34" charset="0"/>
                <a:cs typeface="Arial" pitchFamily="34" charset="0"/>
              </a:rPr>
              <a:t>внутриигровом</a:t>
            </a: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 магазине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Механика случайных событий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  <a:p>
            <a:pPr algn="l"/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830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-459432"/>
            <a:ext cx="6419056" cy="2002234"/>
          </a:xfrm>
        </p:spPr>
        <p:txBody>
          <a:bodyPr>
            <a:noAutofit/>
          </a:bodyPr>
          <a:lstStyle/>
          <a:p>
            <a:pPr algn="l"/>
            <a:r>
              <a:rPr lang="ru-RU" sz="3600" dirty="0" smtClean="0">
                <a:latin typeface="Arial Black" pitchFamily="34" charset="0"/>
              </a:rPr>
              <a:t>Формулирование задач по «</a:t>
            </a:r>
            <a:r>
              <a:rPr lang="en-US" sz="3600" dirty="0" err="1" smtClean="0">
                <a:latin typeface="Arial Black" pitchFamily="34" charset="0"/>
              </a:rPr>
              <a:t>MoSCoW</a:t>
            </a:r>
            <a:r>
              <a:rPr lang="ru-RU" sz="3600" dirty="0" smtClean="0">
                <a:latin typeface="Arial Black" pitchFamily="34" charset="0"/>
              </a:rPr>
              <a:t>»</a:t>
            </a:r>
            <a:endParaRPr lang="ru-RU" sz="3600" dirty="0">
              <a:latin typeface="Arial Black" pitchFamily="34" charset="0"/>
            </a:endParaRPr>
          </a:p>
        </p:txBody>
      </p:sp>
      <p:pic>
        <p:nvPicPr>
          <p:cNvPr id="2050" name="Picture 2" descr="C:\Users\Артем\Desktop\уник\исит\7.3\жа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9" r="85663"/>
          <a:stretch/>
        </p:blipFill>
        <p:spPr bwMode="auto">
          <a:xfrm>
            <a:off x="0" y="4810124"/>
            <a:ext cx="1552575" cy="204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Артем\Desktop\уник\исит\7.3\жы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6" b="32824"/>
          <a:stretch/>
        </p:blipFill>
        <p:spPr bwMode="auto">
          <a:xfrm>
            <a:off x="6585625" y="-7612"/>
            <a:ext cx="2579995" cy="409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403648" y="1916832"/>
            <a:ext cx="6192688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latin typeface="Arial Narrow" pitchFamily="34" charset="0"/>
                <a:cs typeface="Arial" pitchFamily="34" charset="0"/>
              </a:rPr>
              <a:t>C</a:t>
            </a:r>
            <a:r>
              <a:rPr lang="en-US" sz="3200" dirty="0" smtClean="0">
                <a:latin typeface="Arial Narrow" pitchFamily="34" charset="0"/>
                <a:cs typeface="Arial" pitchFamily="34" charset="0"/>
              </a:rPr>
              <a:t>ould Have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Мини-игры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Специальная </a:t>
            </a:r>
            <a:r>
              <a:rPr lang="ru-RU" sz="2800" dirty="0" err="1" smtClean="0">
                <a:latin typeface="Arial Narrow" pitchFamily="34" charset="0"/>
                <a:cs typeface="Arial" pitchFamily="34" charset="0"/>
              </a:rPr>
              <a:t>внутриигровая</a:t>
            </a: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 валюта, начисляемая за просмотр рекламных роликов</a:t>
            </a:r>
          </a:p>
          <a:p>
            <a:pPr algn="l"/>
            <a:r>
              <a:rPr lang="en-US" sz="3200" dirty="0" smtClean="0">
                <a:latin typeface="Arial Narrow" pitchFamily="34" charset="0"/>
                <a:cs typeface="Arial" pitchFamily="34" charset="0"/>
              </a:rPr>
              <a:t>Won’t </a:t>
            </a:r>
            <a:r>
              <a:rPr lang="en-US" sz="3200" dirty="0">
                <a:latin typeface="Arial Narrow" pitchFamily="34" charset="0"/>
                <a:cs typeface="Arial" pitchFamily="34" charset="0"/>
              </a:rPr>
              <a:t>Have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Таблица лидеров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err="1" smtClean="0">
                <a:latin typeface="Arial Narrow" pitchFamily="34" charset="0"/>
                <a:cs typeface="Arial" pitchFamily="34" charset="0"/>
              </a:rPr>
              <a:t>Мультиплеер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60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-459432"/>
            <a:ext cx="6419056" cy="2002234"/>
          </a:xfrm>
        </p:spPr>
        <p:txBody>
          <a:bodyPr>
            <a:noAutofit/>
          </a:bodyPr>
          <a:lstStyle/>
          <a:p>
            <a:pPr algn="l"/>
            <a:r>
              <a:rPr lang="ru-RU" sz="3600" dirty="0" smtClean="0">
                <a:latin typeface="Arial Black" pitchFamily="34" charset="0"/>
              </a:rPr>
              <a:t>Чек-лист</a:t>
            </a:r>
            <a:endParaRPr lang="ru-RU" sz="3600" dirty="0">
              <a:latin typeface="Arial Black" pitchFamily="34" charset="0"/>
            </a:endParaRPr>
          </a:p>
        </p:txBody>
      </p:sp>
      <p:pic>
        <p:nvPicPr>
          <p:cNvPr id="2050" name="Picture 2" descr="C:\Users\Артем\Desktop\уник\исит\7.3\жа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9" r="85663"/>
          <a:stretch/>
        </p:blipFill>
        <p:spPr bwMode="auto">
          <a:xfrm>
            <a:off x="0" y="4810124"/>
            <a:ext cx="1552575" cy="204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Артем\Desktop\уник\исит\7.3\жы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6" b="32824"/>
          <a:stretch/>
        </p:blipFill>
        <p:spPr bwMode="auto">
          <a:xfrm>
            <a:off x="6585625" y="-7612"/>
            <a:ext cx="2579995" cy="409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539552" y="476672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AutoNum type="arabicParenR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Ядро игрового процесса</a:t>
            </a: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	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971600" y="922710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800" dirty="0" smtClean="0">
              <a:latin typeface="Arial Narrow" pitchFamily="34" charset="0"/>
              <a:cs typeface="Arial" pitchFamily="34" charset="0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Базовая механика (+ 2 очка за 1 клик)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Всплывающие числа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Счётчик очков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539552" y="2362870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2) Прогрессия и улучшения</a:t>
            </a: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	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71600" y="3659014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800" dirty="0" smtClean="0">
              <a:latin typeface="Arial Narrow" pitchFamily="34" charset="0"/>
              <a:cs typeface="Arial" pitchFamily="34" charset="0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Доработать счётчик очков до </a:t>
            </a:r>
            <a:r>
              <a:rPr lang="ru-RU" sz="2800" dirty="0" err="1" smtClean="0">
                <a:latin typeface="Arial Narrow" pitchFamily="34" charset="0"/>
                <a:cs typeface="Arial" pitchFamily="34" charset="0"/>
              </a:rPr>
              <a:t>поуровенвой</a:t>
            </a: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 шкалы прогресса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Увеличение количества очков за один клик по мере прогресса</a:t>
            </a:r>
            <a:endParaRPr lang="ru-RU" sz="2800" dirty="0" smtClean="0">
              <a:latin typeface="Arial Narrow" pitchFamily="34" charset="0"/>
              <a:cs typeface="Arial" pitchFamily="34" charset="0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Бонусы (временный </a:t>
            </a:r>
            <a:r>
              <a:rPr lang="ru-RU" sz="2800" dirty="0" err="1" smtClean="0">
                <a:latin typeface="Arial Narrow" pitchFamily="34" charset="0"/>
                <a:cs typeface="Arial" pitchFamily="34" charset="0"/>
              </a:rPr>
              <a:t>автокликер</a:t>
            </a: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, временное умножение количества очков за один клик)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243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-459432"/>
            <a:ext cx="6419056" cy="2002234"/>
          </a:xfrm>
        </p:spPr>
        <p:txBody>
          <a:bodyPr>
            <a:noAutofit/>
          </a:bodyPr>
          <a:lstStyle/>
          <a:p>
            <a:pPr algn="l"/>
            <a:r>
              <a:rPr lang="ru-RU" sz="3600" dirty="0" smtClean="0">
                <a:latin typeface="Arial Black" pitchFamily="34" charset="0"/>
              </a:rPr>
              <a:t>Чек-лист</a:t>
            </a:r>
            <a:endParaRPr lang="ru-RU" sz="3600" dirty="0">
              <a:latin typeface="Arial Black" pitchFamily="34" charset="0"/>
            </a:endParaRPr>
          </a:p>
        </p:txBody>
      </p:sp>
      <p:pic>
        <p:nvPicPr>
          <p:cNvPr id="2050" name="Picture 2" descr="C:\Users\Артем\Desktop\уник\исит\7.3\жа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9" r="85663"/>
          <a:stretch/>
        </p:blipFill>
        <p:spPr bwMode="auto">
          <a:xfrm>
            <a:off x="0" y="4810124"/>
            <a:ext cx="1552575" cy="204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Артем\Desktop\уник\исит\7.3\жы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6" b="32824"/>
          <a:stretch/>
        </p:blipFill>
        <p:spPr bwMode="auto">
          <a:xfrm>
            <a:off x="6585625" y="-7612"/>
            <a:ext cx="2579995" cy="409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539552" y="332656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3) </a:t>
            </a:r>
            <a:r>
              <a:rPr lang="ru-RU" sz="2800" dirty="0" err="1" smtClean="0">
                <a:latin typeface="Arial Narrow" pitchFamily="34" charset="0"/>
                <a:cs typeface="Arial" pitchFamily="34" charset="0"/>
              </a:rPr>
              <a:t>Кастомизация</a:t>
            </a: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 персонажа, предметы</a:t>
            </a: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	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971600" y="1354758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800" dirty="0" smtClean="0">
              <a:latin typeface="Arial Narrow" pitchFamily="34" charset="0"/>
              <a:cs typeface="Arial" pitchFamily="34" charset="0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Механика смены причёсок, выражений лица, одежды, головных уборов, ботинок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15 предметов каждой категории (5 в стартовый редактор, 10 в магазин)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15 коллекционных предметов для </a:t>
            </a:r>
            <a:r>
              <a:rPr lang="ru-RU" sz="2800" dirty="0" err="1" smtClean="0">
                <a:latin typeface="Arial Narrow" pitchFamily="34" charset="0"/>
                <a:cs typeface="Arial" pitchFamily="34" charset="0"/>
              </a:rPr>
              <a:t>внутриигрвого</a:t>
            </a: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 магазина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539552" y="3356992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800" dirty="0">
                <a:latin typeface="Arial Narrow" pitchFamily="34" charset="0"/>
                <a:cs typeface="Arial" pitchFamily="34" charset="0"/>
              </a:rPr>
              <a:t>4</a:t>
            </a: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) Мини-игры</a:t>
            </a: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	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71600" y="3789040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800" dirty="0" smtClean="0">
              <a:latin typeface="Arial Narrow" pitchFamily="34" charset="0"/>
              <a:cs typeface="Arial" pitchFamily="34" charset="0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Мини-игра «готовка»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Мини-игра «шпоры» 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Мини-игра «поток сознания»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69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-459432"/>
            <a:ext cx="6419056" cy="2002234"/>
          </a:xfrm>
        </p:spPr>
        <p:txBody>
          <a:bodyPr>
            <a:noAutofit/>
          </a:bodyPr>
          <a:lstStyle/>
          <a:p>
            <a:pPr algn="l"/>
            <a:r>
              <a:rPr lang="ru-RU" sz="3600" dirty="0" smtClean="0">
                <a:latin typeface="Arial Black" pitchFamily="34" charset="0"/>
              </a:rPr>
              <a:t>Чек-лист</a:t>
            </a:r>
            <a:endParaRPr lang="ru-RU" sz="3600" dirty="0">
              <a:latin typeface="Arial Black" pitchFamily="34" charset="0"/>
            </a:endParaRPr>
          </a:p>
        </p:txBody>
      </p:sp>
      <p:pic>
        <p:nvPicPr>
          <p:cNvPr id="2050" name="Picture 2" descr="C:\Users\Артем\Desktop\уник\исит\7.3\жа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9" r="85663"/>
          <a:stretch/>
        </p:blipFill>
        <p:spPr bwMode="auto">
          <a:xfrm>
            <a:off x="0" y="4810124"/>
            <a:ext cx="1552575" cy="204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Артем\Desktop\уник\исит\7.3\жы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6" b="32824"/>
          <a:stretch/>
        </p:blipFill>
        <p:spPr bwMode="auto">
          <a:xfrm>
            <a:off x="6585625" y="-7612"/>
            <a:ext cx="2579995" cy="409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539552" y="332656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3) </a:t>
            </a:r>
            <a:r>
              <a:rPr lang="ru-RU" sz="2800" dirty="0" err="1" smtClean="0">
                <a:latin typeface="Arial Narrow" pitchFamily="34" charset="0"/>
                <a:cs typeface="Arial" pitchFamily="34" charset="0"/>
              </a:rPr>
              <a:t>Кастомизация</a:t>
            </a: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 персонажа, предметы</a:t>
            </a: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	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971600" y="1354758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800" dirty="0" smtClean="0">
              <a:latin typeface="Arial Narrow" pitchFamily="34" charset="0"/>
              <a:cs typeface="Arial" pitchFamily="34" charset="0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Механика смены причёсок, выражений лица, одежды, головных уборов, ботинок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15 предметов каждой категории (5 в стартовый редактор, 10 в магазин)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15 коллекционных предметов для </a:t>
            </a:r>
            <a:r>
              <a:rPr lang="ru-RU" sz="2800" dirty="0" err="1" smtClean="0">
                <a:latin typeface="Arial Narrow" pitchFamily="34" charset="0"/>
                <a:cs typeface="Arial" pitchFamily="34" charset="0"/>
              </a:rPr>
              <a:t>внутриигрвого</a:t>
            </a: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 магазина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539552" y="3356992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800" dirty="0">
                <a:latin typeface="Arial Narrow" pitchFamily="34" charset="0"/>
                <a:cs typeface="Arial" pitchFamily="34" charset="0"/>
              </a:rPr>
              <a:t>4</a:t>
            </a: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) Мини-игры</a:t>
            </a: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	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971600" y="3789040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800" dirty="0" smtClean="0">
              <a:latin typeface="Arial Narrow" pitchFamily="34" charset="0"/>
              <a:cs typeface="Arial" pitchFamily="34" charset="0"/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Мини-игра «готовка»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Мини-игра «шпоры» 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Мини-игра «поток сознания»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252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-459432"/>
            <a:ext cx="6419056" cy="2002234"/>
          </a:xfrm>
        </p:spPr>
        <p:txBody>
          <a:bodyPr>
            <a:noAutofit/>
          </a:bodyPr>
          <a:lstStyle/>
          <a:p>
            <a:pPr algn="l"/>
            <a:r>
              <a:rPr lang="ru-RU" sz="3600" dirty="0" smtClean="0">
                <a:latin typeface="Arial Black" pitchFamily="34" charset="0"/>
              </a:rPr>
              <a:t>Чек-лист</a:t>
            </a:r>
            <a:endParaRPr lang="ru-RU" sz="3600" dirty="0">
              <a:latin typeface="Arial Black" pitchFamily="34" charset="0"/>
            </a:endParaRPr>
          </a:p>
        </p:txBody>
      </p:sp>
      <p:pic>
        <p:nvPicPr>
          <p:cNvPr id="2050" name="Picture 2" descr="C:\Users\Артем\Desktop\уник\исит\7.3\жа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9" r="85663"/>
          <a:stretch/>
        </p:blipFill>
        <p:spPr bwMode="auto">
          <a:xfrm>
            <a:off x="0" y="4810124"/>
            <a:ext cx="1552575" cy="204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Артем\Desktop\уник\исит\7.3\жы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6" b="32824"/>
          <a:stretch/>
        </p:blipFill>
        <p:spPr bwMode="auto">
          <a:xfrm>
            <a:off x="6585625" y="-7612"/>
            <a:ext cx="2579995" cy="409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539552" y="332656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5) Техническая реализация</a:t>
            </a: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	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971600" y="1354758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800" dirty="0" smtClean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539552" y="1498774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Сохранение прогресса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Таймеры на события</a:t>
            </a:r>
          </a:p>
          <a:p>
            <a:pPr marL="457200" indent="-457200" algn="l">
              <a:buFont typeface="Arial" pitchFamily="34" charset="0"/>
              <a:buChar char="•"/>
            </a:pPr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Звуки, саундтрек</a:t>
            </a:r>
          </a:p>
          <a:p>
            <a:pPr algn="l"/>
            <a:endParaRPr lang="ru-RU" sz="2800" dirty="0" smtClean="0">
              <a:latin typeface="Arial Narrow" pitchFamily="34" charset="0"/>
              <a:cs typeface="Arial" pitchFamily="34" charset="0"/>
            </a:endParaRP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	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251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-459432"/>
            <a:ext cx="6419056" cy="2002234"/>
          </a:xfrm>
        </p:spPr>
        <p:txBody>
          <a:bodyPr>
            <a:noAutofit/>
          </a:bodyPr>
          <a:lstStyle/>
          <a:p>
            <a:pPr algn="l"/>
            <a:r>
              <a:rPr lang="ru-RU" sz="3600" dirty="0" err="1" smtClean="0">
                <a:latin typeface="Arial Black" pitchFamily="34" charset="0"/>
              </a:rPr>
              <a:t>Роад-Мап</a:t>
            </a:r>
            <a:endParaRPr lang="ru-RU" sz="3600" dirty="0">
              <a:latin typeface="Arial Black" pitchFamily="34" charset="0"/>
            </a:endParaRPr>
          </a:p>
        </p:txBody>
      </p:sp>
      <p:pic>
        <p:nvPicPr>
          <p:cNvPr id="2050" name="Picture 2" descr="C:\Users\Артем\Desktop\уник\исит\7.3\жа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9" r="85663"/>
          <a:stretch/>
        </p:blipFill>
        <p:spPr bwMode="auto">
          <a:xfrm>
            <a:off x="0" y="4810124"/>
            <a:ext cx="1552575" cy="204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Артем\Desktop\уник\исит\7.3\жы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6" b="32824"/>
          <a:stretch/>
        </p:blipFill>
        <p:spPr bwMode="auto">
          <a:xfrm>
            <a:off x="6585625" y="-7612"/>
            <a:ext cx="2579995" cy="409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539552" y="332656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800" dirty="0" smtClean="0">
              <a:latin typeface="Arial Narrow" pitchFamily="34" charset="0"/>
              <a:cs typeface="Arial" pitchFamily="34" charset="0"/>
            </a:endParaRP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	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971600" y="1354758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800" dirty="0" smtClean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539552" y="1498774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800" dirty="0" smtClean="0">
              <a:latin typeface="Arial Narrow" pitchFamily="34" charset="0"/>
              <a:cs typeface="Arial" pitchFamily="34" charset="0"/>
            </a:endParaRP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	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  <p:pic>
        <p:nvPicPr>
          <p:cNvPr id="1026" name="Picture 2" descr="D:\уник\проф. деятельность\2 семестр\роадмап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68" y="1556792"/>
            <a:ext cx="7376368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901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-459432"/>
            <a:ext cx="6419056" cy="2002234"/>
          </a:xfrm>
        </p:spPr>
        <p:txBody>
          <a:bodyPr>
            <a:noAutofit/>
          </a:bodyPr>
          <a:lstStyle/>
          <a:p>
            <a:pPr algn="l"/>
            <a:r>
              <a:rPr lang="ru-RU" sz="3600" dirty="0" smtClean="0">
                <a:latin typeface="Arial Black" pitchFamily="34" charset="0"/>
              </a:rPr>
              <a:t>Задачи на 2 недели</a:t>
            </a:r>
            <a:endParaRPr lang="ru-RU" sz="3600" dirty="0">
              <a:latin typeface="Arial Black" pitchFamily="34" charset="0"/>
            </a:endParaRPr>
          </a:p>
        </p:txBody>
      </p:sp>
      <p:pic>
        <p:nvPicPr>
          <p:cNvPr id="2050" name="Picture 2" descr="C:\Users\Артем\Desktop\уник\исит\7.3\жа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9" r="85663"/>
          <a:stretch/>
        </p:blipFill>
        <p:spPr bwMode="auto">
          <a:xfrm>
            <a:off x="0" y="4810124"/>
            <a:ext cx="1552575" cy="204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Артем\Desktop\уник\исит\7.3\жы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6" b="32824"/>
          <a:stretch/>
        </p:blipFill>
        <p:spPr bwMode="auto">
          <a:xfrm>
            <a:off x="6585625" y="-7612"/>
            <a:ext cx="2579995" cy="409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539552" y="332656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800" dirty="0" smtClean="0">
              <a:latin typeface="Arial Narrow" pitchFamily="34" charset="0"/>
              <a:cs typeface="Arial" pitchFamily="34" charset="0"/>
            </a:endParaRP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	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971600" y="1354758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800" dirty="0" smtClean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539552" y="1498774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800" dirty="0" smtClean="0">
              <a:latin typeface="Arial Narrow" pitchFamily="34" charset="0"/>
              <a:cs typeface="Arial" pitchFamily="34" charset="0"/>
            </a:endParaRP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	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1043608" y="3010942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1 неделя:</a:t>
            </a: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Елисей: </a:t>
            </a:r>
            <a:r>
              <a:rPr lang="ru-RU" sz="2800" dirty="0">
                <a:latin typeface="Arial Narrow" pitchFamily="34" charset="0"/>
              </a:rPr>
              <a:t>Реализация логики магазина: Создание системы покупки апгрейдов и списания игровой </a:t>
            </a:r>
            <a:r>
              <a:rPr lang="ru-RU" sz="2800" dirty="0" smtClean="0">
                <a:latin typeface="Arial Narrow" pitchFamily="34" charset="0"/>
              </a:rPr>
              <a:t>валюты. Оптимизация </a:t>
            </a:r>
            <a:r>
              <a:rPr lang="ru-RU" sz="2800" dirty="0">
                <a:latin typeface="Arial Narrow" pitchFamily="34" charset="0"/>
              </a:rPr>
              <a:t>метода получения ресурса, чтобы код не </a:t>
            </a:r>
            <a:r>
              <a:rPr lang="ru-RU" sz="2800" dirty="0" smtClean="0">
                <a:latin typeface="Arial Narrow" pitchFamily="34" charset="0"/>
              </a:rPr>
              <a:t>тормозил </a:t>
            </a:r>
            <a:r>
              <a:rPr lang="ru-RU" sz="2800" dirty="0">
                <a:latin typeface="Arial Narrow" pitchFamily="34" charset="0"/>
              </a:rPr>
              <a:t>при частом </a:t>
            </a:r>
            <a:r>
              <a:rPr lang="ru-RU" sz="2800" dirty="0" smtClean="0">
                <a:latin typeface="Arial Narrow" pitchFamily="34" charset="0"/>
              </a:rPr>
              <a:t>нажатии. Настройка </a:t>
            </a:r>
            <a:r>
              <a:rPr lang="ru-RU" sz="2800" dirty="0">
                <a:latin typeface="Arial Narrow" pitchFamily="34" charset="0"/>
              </a:rPr>
              <a:t>взаимодействия между инвентарем и </a:t>
            </a:r>
            <a:r>
              <a:rPr lang="ru-RU" sz="2800" dirty="0" smtClean="0">
                <a:latin typeface="Arial Narrow" pitchFamily="34" charset="0"/>
              </a:rPr>
              <a:t>игровым процессом</a:t>
            </a:r>
          </a:p>
          <a:p>
            <a:pPr algn="l"/>
            <a:r>
              <a:rPr lang="ru-RU" sz="2800" dirty="0" err="1" smtClean="0">
                <a:latin typeface="Arial Narrow" pitchFamily="34" charset="0"/>
              </a:rPr>
              <a:t>Санжирма</a:t>
            </a:r>
            <a:r>
              <a:rPr lang="ru-RU" sz="2800" dirty="0" smtClean="0">
                <a:latin typeface="Arial Narrow" pitchFamily="34" charset="0"/>
              </a:rPr>
              <a:t>: </a:t>
            </a:r>
            <a:r>
              <a:rPr lang="ru-RU" sz="2800" dirty="0" err="1" smtClean="0">
                <a:latin typeface="Arial Narrow" pitchFamily="34" charset="0"/>
              </a:rPr>
              <a:t>отрисовка</a:t>
            </a:r>
            <a:r>
              <a:rPr lang="ru-RU" sz="2800" dirty="0" smtClean="0">
                <a:latin typeface="Arial Narrow" pitchFamily="34" charset="0"/>
              </a:rPr>
              <a:t> предметов для стартового редактора</a:t>
            </a:r>
          </a:p>
          <a:p>
            <a:pPr algn="l"/>
            <a:r>
              <a:rPr lang="ru-RU" sz="2800" dirty="0" smtClean="0">
                <a:latin typeface="Arial Narrow" pitchFamily="34" charset="0"/>
              </a:rPr>
              <a:t>Артемий: анимация персонажа, экспорт анимации в форматы, пригодные для интеграции</a:t>
            </a:r>
            <a:r>
              <a:rPr lang="ru-RU" sz="2800" dirty="0">
                <a:latin typeface="Arial Narrow" pitchFamily="34" charset="0"/>
              </a:rPr>
              <a:t/>
            </a:r>
            <a:br>
              <a:rPr lang="ru-RU" sz="2800" dirty="0">
                <a:latin typeface="Arial Narrow" pitchFamily="34" charset="0"/>
              </a:rPr>
            </a:br>
            <a:endParaRPr lang="ru-RU" sz="2800" dirty="0" smtClean="0">
              <a:latin typeface="Arial Narrow" pitchFamily="34" charset="0"/>
              <a:cs typeface="Arial" pitchFamily="34" charset="0"/>
            </a:endParaRP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	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27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-459432"/>
            <a:ext cx="6419056" cy="2002234"/>
          </a:xfrm>
        </p:spPr>
        <p:txBody>
          <a:bodyPr>
            <a:noAutofit/>
          </a:bodyPr>
          <a:lstStyle/>
          <a:p>
            <a:pPr algn="l"/>
            <a:r>
              <a:rPr lang="ru-RU" sz="3600" dirty="0" smtClean="0">
                <a:latin typeface="Arial Black" pitchFamily="34" charset="0"/>
              </a:rPr>
              <a:t>Задачи на 2 недели</a:t>
            </a:r>
            <a:endParaRPr lang="ru-RU" sz="3600" dirty="0">
              <a:latin typeface="Arial Black" pitchFamily="34" charset="0"/>
            </a:endParaRPr>
          </a:p>
        </p:txBody>
      </p:sp>
      <p:pic>
        <p:nvPicPr>
          <p:cNvPr id="2050" name="Picture 2" descr="C:\Users\Артем\Desktop\уник\исит\7.3\жа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79" r="85663"/>
          <a:stretch/>
        </p:blipFill>
        <p:spPr bwMode="auto">
          <a:xfrm>
            <a:off x="0" y="4810124"/>
            <a:ext cx="1552575" cy="204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Артем\Desktop\уник\исит\7.3\жы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76" b="32824"/>
          <a:stretch/>
        </p:blipFill>
        <p:spPr bwMode="auto">
          <a:xfrm>
            <a:off x="6585625" y="-7612"/>
            <a:ext cx="2579995" cy="409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539552" y="332656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800" dirty="0" smtClean="0">
              <a:latin typeface="Arial Narrow" pitchFamily="34" charset="0"/>
              <a:cs typeface="Arial" pitchFamily="34" charset="0"/>
            </a:endParaRP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	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971600" y="1354758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800" dirty="0" smtClean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539552" y="1498774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2800" dirty="0" smtClean="0">
              <a:latin typeface="Arial Narrow" pitchFamily="34" charset="0"/>
              <a:cs typeface="Arial" pitchFamily="34" charset="0"/>
            </a:endParaRP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	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1043608" y="1354758"/>
            <a:ext cx="6624736" cy="20022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2 неделя:</a:t>
            </a: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Елисей: </a:t>
            </a:r>
            <a:r>
              <a:rPr lang="ru-RU" sz="2800" dirty="0" smtClean="0">
                <a:latin typeface="Arial Narrow" pitchFamily="34" charset="0"/>
              </a:rPr>
              <a:t>балансировка цен в магазине</a:t>
            </a:r>
          </a:p>
          <a:p>
            <a:pPr algn="l"/>
            <a:r>
              <a:rPr lang="ru-RU" sz="2800" dirty="0" err="1" smtClean="0">
                <a:latin typeface="Arial Narrow" pitchFamily="34" charset="0"/>
              </a:rPr>
              <a:t>Санжирма</a:t>
            </a:r>
            <a:r>
              <a:rPr lang="ru-RU" sz="2800" dirty="0" smtClean="0">
                <a:latin typeface="Arial Narrow" pitchFamily="34" charset="0"/>
              </a:rPr>
              <a:t>: </a:t>
            </a:r>
            <a:r>
              <a:rPr lang="ru-RU" sz="2800" dirty="0" err="1" smtClean="0">
                <a:latin typeface="Arial Narrow" pitchFamily="34" charset="0"/>
              </a:rPr>
              <a:t>отрисовка</a:t>
            </a:r>
            <a:r>
              <a:rPr lang="ru-RU" sz="2800" dirty="0" smtClean="0">
                <a:latin typeface="Arial Narrow" pitchFamily="34" charset="0"/>
              </a:rPr>
              <a:t> предметов для </a:t>
            </a:r>
            <a:r>
              <a:rPr lang="ru-RU" sz="2800" dirty="0" err="1" smtClean="0">
                <a:latin typeface="Arial Narrow" pitchFamily="34" charset="0"/>
              </a:rPr>
              <a:t>внутриигрового</a:t>
            </a:r>
            <a:r>
              <a:rPr lang="ru-RU" sz="2800" dirty="0" smtClean="0">
                <a:latin typeface="Arial Narrow" pitchFamily="34" charset="0"/>
              </a:rPr>
              <a:t> магазина</a:t>
            </a:r>
          </a:p>
          <a:p>
            <a:pPr algn="l"/>
            <a:r>
              <a:rPr lang="ru-RU" sz="2800" dirty="0" smtClean="0">
                <a:latin typeface="Arial Narrow" pitchFamily="34" charset="0"/>
              </a:rPr>
              <a:t>Артемий: полировка </a:t>
            </a:r>
            <a:r>
              <a:rPr lang="ru-RU" sz="2800" dirty="0" err="1" smtClean="0">
                <a:latin typeface="Arial Narrow" pitchFamily="34" charset="0"/>
              </a:rPr>
              <a:t>визуала</a:t>
            </a:r>
            <a:r>
              <a:rPr lang="ru-RU" sz="2800" dirty="0" smtClean="0">
                <a:latin typeface="Arial Narrow" pitchFamily="34" charset="0"/>
              </a:rPr>
              <a:t> (тени, редактирование под анимации, и </a:t>
            </a:r>
            <a:r>
              <a:rPr lang="ru-RU" sz="2800" dirty="0" err="1" smtClean="0">
                <a:latin typeface="Arial Narrow" pitchFamily="34" charset="0"/>
              </a:rPr>
              <a:t>тд</a:t>
            </a:r>
            <a:r>
              <a:rPr lang="ru-RU" sz="2800" dirty="0" smtClean="0">
                <a:latin typeface="Arial Narrow" pitchFamily="34" charset="0"/>
              </a:rPr>
              <a:t>)</a:t>
            </a:r>
            <a:endParaRPr lang="ru-RU" sz="2800" dirty="0" smtClean="0">
              <a:latin typeface="Arial Narrow" pitchFamily="34" charset="0"/>
              <a:cs typeface="Arial" pitchFamily="34" charset="0"/>
            </a:endParaRPr>
          </a:p>
          <a:p>
            <a:pPr algn="l"/>
            <a:r>
              <a:rPr lang="ru-RU" sz="2800" dirty="0" smtClean="0">
                <a:latin typeface="Arial Narrow" pitchFamily="34" charset="0"/>
                <a:cs typeface="Arial" pitchFamily="34" charset="0"/>
              </a:rPr>
              <a:t>	</a:t>
            </a:r>
            <a:endParaRPr lang="ru-RU" sz="2800" dirty="0"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46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</TotalTime>
  <Words>566</Words>
  <Application>Microsoft Office PowerPoint</Application>
  <PresentationFormat>Экран (4:3)</PresentationFormat>
  <Paragraphs>121</Paragraphs>
  <Slides>19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Схема интерфейса</vt:lpstr>
      <vt:lpstr>Цель проекта:  Разработать игровое мобильное приложение в жанре «кликер», с игровыми механиками прогрессии, кастомизации и накопления ресурсов. </vt:lpstr>
      <vt:lpstr>Задачи проекта Аналитическая: Изучить и систематизировать визуальные и культурные атрибуты выбранного сеттинга для разработки дизайн-концепции (интерьер общежития, предметы быта, стиль персонажа).  Проектировочная: Спроектировать архитектуру приложения на основе принципов ООП, разделив игровую логику (Backend), интерфейс (Frontend) и систему хранения данных. </vt:lpstr>
      <vt:lpstr>Задачи проекта Технологическая: Реализовать базовый игровой цикл (Core Loop), систему улучшений и механизм сохранения прогресса в локальное хранилище.  Валидационная: Провести балансировку внутриигровой экономики и протестировать корректность работы системы модификаторов клика.</vt:lpstr>
      <vt:lpstr>В рамках MVP фокусируемся на техническую стабильность и чистоту архитектуры: </vt:lpstr>
      <vt:lpstr>Роли:</vt:lpstr>
      <vt:lpstr>Формулирование задач по «MoSCoW»</vt:lpstr>
      <vt:lpstr>Формулирование задач по «MoSCoW»</vt:lpstr>
      <vt:lpstr>Чек-лист</vt:lpstr>
      <vt:lpstr>Чек-лист</vt:lpstr>
      <vt:lpstr>Чек-лист</vt:lpstr>
      <vt:lpstr>Чек-лист</vt:lpstr>
      <vt:lpstr>Роад-Мап</vt:lpstr>
      <vt:lpstr>Задачи на 2 недели</vt:lpstr>
      <vt:lpstr>Задачи на 2 недели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Артем</dc:creator>
  <cp:lastModifiedBy>Артем</cp:lastModifiedBy>
  <cp:revision>40</cp:revision>
  <dcterms:created xsi:type="dcterms:W3CDTF">2025-11-19T22:47:06Z</dcterms:created>
  <dcterms:modified xsi:type="dcterms:W3CDTF">2026-04-25T12:44:27Z</dcterms:modified>
</cp:coreProperties>
</file>